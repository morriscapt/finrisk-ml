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2" d="100"/>
          <a:sy n="102" d="100"/>
        </p:scale>
        <p:origin x="89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 sz="1300" b="0" i="0" dirty="0">
              <a:solidFill>
                <a:srgbClr val="FFCCCC"/>
              </a:solidFill>
              <a:latin typeface="Robo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48463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Roboto"/>
              </a:rPr>
              <a:t>Stock Market
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331720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CCCCC"/>
                </a:solidFill>
                <a:latin typeface="Roboto"/>
              </a:rPr>
              <a:t>Weekly Stock Price &amp; Returns Analysis
for Five Indian Equities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8229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Roboto"/>
              </a:rPr>
              <a:t>Dataset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280160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CCCC"/>
                </a:solidFill>
                <a:latin typeface="Roboto"/>
              </a:rPr>
              <a:t>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508760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Roboto"/>
              </a:rPr>
              <a:t>Mar 2016 – Mar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874519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CCCC"/>
                </a:solidFill>
                <a:latin typeface="Roboto"/>
              </a:rPr>
              <a:t>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103120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Roboto"/>
              </a:rPr>
              <a:t>418 weekly data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468880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CCCC"/>
                </a:solidFill>
                <a:latin typeface="Roboto"/>
              </a:rPr>
              <a:t>Stocks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697480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Roboto"/>
              </a:rPr>
              <a:t>5 Indian Equities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063240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CCCC"/>
                </a:solidFill>
                <a:latin typeface="Roboto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291840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Roboto"/>
              </a:rPr>
              <a:t>Risk-Return Profiling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95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980000"/>
                </a:solidFill>
                <a:latin typeface="Roboto"/>
              </a:rPr>
              <a:t>Project Context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8595360" cy="1828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416052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63440" y="914400"/>
            <a:ext cx="4160520" cy="365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980000"/>
                </a:solidFill>
                <a:latin typeface="Roboto"/>
              </a:rPr>
              <a:t>Business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Roboto"/>
              </a:rPr>
              <a:t>Equity investing in Indian markets requires quantifying risk alongside expected returns. Selecting stocks purely on price appreciation ignores the volatility incurred.</a:t>
            </a:r>
          </a:p>
          <a:p>
            <a:pPr algn="l"/>
            <a:endParaRPr sz="1000" b="0">
              <a:solidFill>
                <a:srgbClr val="1A1A1A"/>
              </a:solidFill>
              <a:latin typeface="Roboto"/>
            </a:endParaRPr>
          </a:p>
          <a:p>
            <a:pPr algn="l"/>
            <a:r>
              <a:rPr sz="1000" b="0">
                <a:solidFill>
                  <a:srgbClr val="1A1A1A"/>
                </a:solidFill>
                <a:latin typeface="Roboto"/>
              </a:rPr>
              <a:t>This analysis examines five prominent Indian equities across diverse sectors — FMCG, Telecom, Automotive, Real Estate, and Banking — over an eight-year window (March 2016 to March 2024).</a:t>
            </a:r>
          </a:p>
          <a:p>
            <a:pPr algn="l"/>
            <a:endParaRPr sz="1000" b="0">
              <a:solidFill>
                <a:srgbClr val="1A1A1A"/>
              </a:solidFill>
              <a:latin typeface="Roboto"/>
            </a:endParaRPr>
          </a:p>
          <a:p>
            <a:pPr algn="l"/>
            <a:r>
              <a:rPr sz="1000" b="0">
                <a:solidFill>
                  <a:srgbClr val="1A1A1A"/>
                </a:solidFill>
                <a:latin typeface="Roboto"/>
              </a:rPr>
              <a:t>The findings inform portfolio construction decisions for fund managers, retail investors, and risk committees.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96012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980000"/>
                </a:solidFill>
                <a:latin typeface="Roboto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298448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Roboto"/>
              </a:rPr>
              <a:t>Given weekly price data for ITC Limited, Bharti Airtel, Tata Motors, DLF Limited, and Yes Bank:</a:t>
            </a:r>
          </a:p>
          <a:p>
            <a:pPr algn="l"/>
            <a:endParaRPr sz="1000" b="0">
              <a:solidFill>
                <a:srgbClr val="1A1A1A"/>
              </a:solidFill>
              <a:latin typeface="Roboto"/>
            </a:endParaRPr>
          </a:p>
          <a:p>
            <a:pPr algn="l"/>
            <a:r>
              <a:rPr sz="1000" b="1">
                <a:solidFill>
                  <a:srgbClr val="1A1A1A"/>
                </a:solidFill>
                <a:latin typeface="Roboto"/>
              </a:rPr>
              <a:t>1. Visualise price trends over time to identify patterns and anomalies.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Roboto"/>
              </a:rPr>
              <a:t>2. Compute weekly returns and measure their mean and standard deviation.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Roboto"/>
              </a:rPr>
              <a:t>3. Plot the risk-return profile to compare stocks on a single chart.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Roboto"/>
              </a:rPr>
              <a:t>4. Deliver actionable portfolio allocation recommendations.</a:t>
            </a:r>
          </a:p>
          <a:p>
            <a:pPr algn="l"/>
            <a:endParaRPr sz="1000" b="1">
              <a:solidFill>
                <a:srgbClr val="1A1A1A"/>
              </a:solidFill>
              <a:latin typeface="Roboto"/>
            </a:endParaRPr>
          </a:p>
          <a:p>
            <a:pPr algn="l"/>
            <a:r>
              <a:rPr sz="1000" b="0">
                <a:solidFill>
                  <a:srgbClr val="1A1A1A"/>
                </a:solidFill>
                <a:latin typeface="Roboto"/>
              </a:rPr>
              <a:t>Constraints: Analysis is backward-looking (historical data only). No transaction costs modelled.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95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980000"/>
                </a:solidFill>
                <a:latin typeface="Roboto"/>
              </a:rPr>
              <a:t>Dataset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8595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66666"/>
                </a:solidFill>
                <a:latin typeface="Roboto"/>
              </a:rPr>
              <a:t>Market_Risk_Data_coded.csv — 418 weekly observations | 28 Mar 2016 to 25 Mar 2024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49808"/>
            <a:ext cx="8595360" cy="1828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920240" cy="100584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91440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Roboto"/>
              </a:rPr>
              <a:t>418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FFFFFF"/>
                </a:solidFill>
                <a:latin typeface="Roboto"/>
              </a:rPr>
              <a:t>Weekly
Observations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868680"/>
            <a:ext cx="1920240" cy="100584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4600" y="91440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FFFFFF"/>
                </a:solidFill>
                <a:latin typeface="Roboto"/>
              </a:rPr>
              <a:t>Stocks
Covered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868680"/>
            <a:ext cx="1920240" cy="100584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91440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Roboto"/>
              </a:rPr>
              <a:t>8 Yrs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417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FFFFFF"/>
                </a:solidFill>
                <a:latin typeface="Roboto"/>
              </a:rPr>
              <a:t>Time
Span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868680"/>
            <a:ext cx="1920240" cy="100584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91440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Roboto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417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FFFFFF"/>
                </a:solidFill>
                <a:latin typeface="Roboto"/>
              </a:rPr>
              <a:t>Missing
Values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011680"/>
            <a:ext cx="2011680" cy="329184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2057400"/>
            <a:ext cx="1920240" cy="2834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Roboto"/>
              </a:rPr>
              <a:t>Stock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2011680"/>
            <a:ext cx="1280160" cy="329184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77440" y="2057400"/>
            <a:ext cx="1188720" cy="2834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Roboto"/>
              </a:rPr>
              <a:t>Sector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2011680"/>
            <a:ext cx="1737360" cy="329184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0" y="2057400"/>
            <a:ext cx="1645920" cy="2834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Roboto"/>
              </a:rPr>
              <a:t>Price Range (INR)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9240" y="2011680"/>
            <a:ext cx="1828800" cy="329184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94960" y="2057400"/>
            <a:ext cx="1737360" cy="2834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Roboto"/>
              </a:rPr>
              <a:t>Mean Price (INR)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2011680"/>
            <a:ext cx="914400" cy="329184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23760" y="2057400"/>
            <a:ext cx="822960" cy="2834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Roboto"/>
              </a:rPr>
              <a:t>CV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340864"/>
            <a:ext cx="201168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237744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ITC Limited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2340864"/>
            <a:ext cx="128016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77440" y="237744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FMCG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1880" y="2340864"/>
            <a:ext cx="173736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0" y="23774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156 – 493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9240" y="2340864"/>
            <a:ext cx="182880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94960" y="237744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279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78040" y="2340864"/>
            <a:ext cx="91440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23760" y="237744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0.27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2670048"/>
            <a:ext cx="20116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2706624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Bharti Airtel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31720" y="2670048"/>
            <a:ext cx="12801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377440" y="2706624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Telecom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11880" y="2670048"/>
            <a:ext cx="17373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0" y="2706624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261 – 1,236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49240" y="2670048"/>
            <a:ext cx="1828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94960" y="2706624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528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78040" y="2670048"/>
            <a:ext cx="9144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23760" y="2706624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0.43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2999232"/>
            <a:ext cx="201168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3035808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Tata Motors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31720" y="2999232"/>
            <a:ext cx="128016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377440" y="3035808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Automotive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11880" y="2999232"/>
            <a:ext cx="173736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00" y="303580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65 – 1,035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49240" y="2999232"/>
            <a:ext cx="182880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94960" y="3035808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369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78040" y="2999232"/>
            <a:ext cx="91440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223760" y="3035808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0.49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3328416"/>
            <a:ext cx="20116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5760" y="3364992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DLF Limited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31720" y="3328416"/>
            <a:ext cx="12801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377440" y="3364992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Real Estate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11880" y="3328416"/>
            <a:ext cx="17373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657600" y="3364992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110 – 928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49240" y="3328416"/>
            <a:ext cx="1828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94960" y="3364992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277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78040" y="3328416"/>
            <a:ext cx="9144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223760" y="3364992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0.56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3657600"/>
            <a:ext cx="201168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65760" y="3694176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Yes Bank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331720" y="3657600"/>
            <a:ext cx="128016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377440" y="3694176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Banking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11880" y="3657600"/>
            <a:ext cx="173736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0" y="3694176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11 – 397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49240" y="3657600"/>
            <a:ext cx="182880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94960" y="3694176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124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78040" y="3657600"/>
            <a:ext cx="914400" cy="3291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223760" y="3694176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1.05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" y="4498848"/>
            <a:ext cx="8503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66666"/>
                </a:solidFill>
                <a:latin typeface="Roboto"/>
              </a:rPr>
              <a:t>CV = Coefficient of Variation (Std Dev / Mean). Higher CV = more volatile relative to price level. Yes Bank CV of 1.05 signals extreme relative volatility.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Roboto"/>
              </a:rPr>
              <a:t>Stock Price Graph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AAAAAA"/>
                </a:solidFill>
                <a:latin typeface="Roboto"/>
              </a:rPr>
              <a:t>Section 1 of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  <a:latin typeface="Roboto"/>
              </a:rPr>
              <a:t>Weekly closing prices for ITC Limited, Bharti Airtel, Tata Motors,
DLF Limited, and Yes Bank — March 2016 to March 2024.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95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980000"/>
                </a:solidFill>
                <a:latin typeface="Roboto"/>
              </a:rPr>
              <a:t>Stock Price Trends — Individual Series (Mar 2016 – Mar 2024)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8595360" cy="1828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ar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22960"/>
            <a:ext cx="5943600" cy="4160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0" y="822960"/>
            <a:ext cx="2743200" cy="4160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868680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80000"/>
                </a:solidFill>
                <a:latin typeface="Roboto"/>
              </a:rPr>
              <a:t>Key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80000"/>
                </a:solidFill>
                <a:latin typeface="Roboto"/>
              </a:rPr>
              <a:t>ITC Limited: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Roboto"/>
              </a:rPr>
              <a:t>Steady uptrend; strong appreciation from 2022 onward.</a:t>
            </a:r>
          </a:p>
          <a:p>
            <a:pPr algn="l"/>
            <a:endParaRPr sz="900" b="0">
              <a:solidFill>
                <a:srgbClr val="1A1A1A"/>
              </a:solidFill>
              <a:latin typeface="Roboto"/>
            </a:endParaRPr>
          </a:p>
          <a:p>
            <a:pPr algn="l"/>
            <a:r>
              <a:rPr sz="900" b="1">
                <a:solidFill>
                  <a:srgbClr val="980000"/>
                </a:solidFill>
                <a:latin typeface="Roboto"/>
              </a:rPr>
              <a:t>Bharti Airtel: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Roboto"/>
              </a:rPr>
              <a:t>Trough in 2018-20 (Jio disruption), then strong recovery to INR 1,236.</a:t>
            </a:r>
          </a:p>
          <a:p>
            <a:pPr algn="l"/>
            <a:endParaRPr sz="900" b="0">
              <a:solidFill>
                <a:srgbClr val="1A1A1A"/>
              </a:solidFill>
              <a:latin typeface="Roboto"/>
            </a:endParaRPr>
          </a:p>
          <a:p>
            <a:pPr algn="l"/>
            <a:r>
              <a:rPr sz="900" b="1">
                <a:solidFill>
                  <a:srgbClr val="980000"/>
                </a:solidFill>
                <a:latin typeface="Roboto"/>
              </a:rPr>
              <a:t>Tata Motors: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Roboto"/>
              </a:rPr>
              <a:t>Widest price range; COVID crash drove price to INR 65 before full recovery.</a:t>
            </a:r>
          </a:p>
          <a:p>
            <a:pPr algn="l"/>
            <a:endParaRPr sz="900" b="0">
              <a:solidFill>
                <a:srgbClr val="1A1A1A"/>
              </a:solidFill>
              <a:latin typeface="Roboto"/>
            </a:endParaRPr>
          </a:p>
          <a:p>
            <a:pPr algn="l"/>
            <a:r>
              <a:rPr sz="900" b="1">
                <a:solidFill>
                  <a:srgbClr val="980000"/>
                </a:solidFill>
                <a:latin typeface="Roboto"/>
              </a:rPr>
              <a:t>DLF Limited: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Roboto"/>
              </a:rPr>
              <a:t>Extended sideways period, then sharp late-cycle real estate surge (2023-24).</a:t>
            </a:r>
          </a:p>
          <a:p>
            <a:pPr algn="l"/>
            <a:endParaRPr sz="900" b="0">
              <a:solidFill>
                <a:srgbClr val="1A1A1A"/>
              </a:solidFill>
              <a:latin typeface="Roboto"/>
            </a:endParaRPr>
          </a:p>
          <a:p>
            <a:pPr algn="l"/>
            <a:r>
              <a:rPr sz="900" b="1">
                <a:solidFill>
                  <a:srgbClr val="980000"/>
                </a:solidFill>
                <a:latin typeface="Roboto"/>
              </a:rPr>
              <a:t>Yes Bank: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Roboto"/>
              </a:rPr>
              <a:t>Catastrophic collapse from INR 397 to INR 11 during 2020 governance crisis. Value not recovered.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9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95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980000"/>
                </a:solidFill>
                <a:latin typeface="Roboto"/>
              </a:rPr>
              <a:t>Normalised Price Index — Comparative Total Return (Base = 100, Mar 2016)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8595360" cy="1828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22960"/>
            <a:ext cx="8869680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3337560"/>
            <a:ext cx="8503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980000"/>
                </a:solidFill>
                <a:latin typeface="Roboto"/>
              </a:rPr>
              <a:t>Total Return over ~8 years (March 2016 to March 2024)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3547872"/>
            <a:ext cx="1463040" cy="2286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" y="3566160"/>
            <a:ext cx="14081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Roboto"/>
              </a:rPr>
              <a:t>Stock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3547872"/>
            <a:ext cx="1051560" cy="2286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81912" y="3566160"/>
            <a:ext cx="99669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Roboto"/>
              </a:rPr>
              <a:t>Total Return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3547872"/>
            <a:ext cx="2331720" cy="2286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33472" y="3566160"/>
            <a:ext cx="227685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Roboto"/>
              </a:rPr>
              <a:t>Interpretation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3547872"/>
            <a:ext cx="4023360" cy="2286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33472" y="3566160"/>
            <a:ext cx="4023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Roboto"/>
              </a:rPr>
              <a:t>Interpretation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" y="3776472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" y="3794760"/>
            <a:ext cx="14081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A1A1A"/>
                </a:solidFill>
                <a:latin typeface="Roboto"/>
              </a:rPr>
              <a:t>ITC Limited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3776472"/>
            <a:ext cx="1051560" cy="228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81912" y="3794760"/>
            <a:ext cx="99669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2E7D32"/>
                </a:solidFill>
                <a:latin typeface="Roboto"/>
              </a:rPr>
              <a:t>+97.7%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3776472"/>
            <a:ext cx="4023360" cy="228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33472" y="3794760"/>
            <a:ext cx="396849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A1A1A"/>
                </a:solidFill>
                <a:latin typeface="Roboto"/>
              </a:rPr>
              <a:t>Nearly doubled investor capital over the period.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" y="4005072"/>
            <a:ext cx="14630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" y="4023360"/>
            <a:ext cx="14081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A1A1A"/>
                </a:solidFill>
                <a:latin typeface="Roboto"/>
              </a:rPr>
              <a:t>Bharti Airtel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4005072"/>
            <a:ext cx="10515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81912" y="4023360"/>
            <a:ext cx="99669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2E7D32"/>
                </a:solidFill>
                <a:latin typeface="Roboto"/>
              </a:rPr>
              <a:t>+291.1%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4005072"/>
            <a:ext cx="40233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33472" y="4023360"/>
            <a:ext cx="396849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A1A1A"/>
                </a:solidFill>
                <a:latin typeface="Roboto"/>
              </a:rPr>
              <a:t>Almost 4x return; post-Jio recovery and 5G growth.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" y="4233672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872" y="4251960"/>
            <a:ext cx="14081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A1A1A"/>
                </a:solidFill>
                <a:latin typeface="Roboto"/>
              </a:rPr>
              <a:t>Tata Motors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4233672"/>
            <a:ext cx="1051560" cy="228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81912" y="4251960"/>
            <a:ext cx="99669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2E7D32"/>
                </a:solidFill>
                <a:latin typeface="Roboto"/>
              </a:rPr>
              <a:t>+153.9%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4233672"/>
            <a:ext cx="4023360" cy="228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33472" y="4251960"/>
            <a:ext cx="396849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A1A1A"/>
                </a:solidFill>
                <a:latin typeface="Roboto"/>
              </a:rPr>
              <a:t>JLR recovery and EV pivot rewarded patient holders.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" y="4462272"/>
            <a:ext cx="14630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8872" y="4480560"/>
            <a:ext cx="14081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A1A1A"/>
                </a:solidFill>
                <a:latin typeface="Roboto"/>
              </a:rPr>
              <a:t>DLF Limited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4462272"/>
            <a:ext cx="10515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581912" y="4480560"/>
            <a:ext cx="99669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2E7D32"/>
                </a:solidFill>
                <a:latin typeface="Roboto"/>
              </a:rPr>
              <a:t>+659.6%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4462272"/>
            <a:ext cx="40233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33472" y="4480560"/>
            <a:ext cx="396849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A1A1A"/>
                </a:solidFill>
                <a:latin typeface="Roboto"/>
              </a:rPr>
              <a:t>Best total return; driven by late-cycle real estate surge.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" y="4690872"/>
            <a:ext cx="1463040" cy="228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8872" y="4709160"/>
            <a:ext cx="14081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A1A1A"/>
                </a:solidFill>
                <a:latin typeface="Roboto"/>
              </a:rPr>
              <a:t>Yes Bank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54480" y="4690872"/>
            <a:ext cx="1051560" cy="228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581912" y="4709160"/>
            <a:ext cx="99669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62828"/>
                </a:solidFill>
                <a:latin typeface="Roboto"/>
              </a:rPr>
              <a:t>-86.1%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6040" y="4690872"/>
            <a:ext cx="4023360" cy="228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33472" y="4709160"/>
            <a:ext cx="396849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A1A1A"/>
                </a:solidFill>
                <a:latin typeface="Roboto"/>
              </a:rPr>
              <a:t>Governance failure and RBI bailout destroyed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Roboto"/>
              </a:rPr>
              <a:t>Returns Calculation &amp;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AAAAAA"/>
                </a:solidFill>
                <a:latin typeface="Roboto"/>
              </a:rPr>
              <a:t>Section 2 of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  <a:latin typeface="Roboto"/>
              </a:rPr>
              <a:t>Weekly return = (Price(t) - Price(t-1)) / Price(t-1) x 100
417 weekly return observations per stock derived from 418 price 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95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980000"/>
                </a:solidFill>
                <a:latin typeface="Roboto"/>
              </a:rPr>
              <a:t>Weekly Stock Returns — Time Series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8595360" cy="1828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22960"/>
            <a:ext cx="5943600" cy="4160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0" y="822960"/>
            <a:ext cx="2743200" cy="4160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868680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80000"/>
                </a:solidFill>
                <a:latin typeface="Roboto"/>
              </a:rPr>
              <a:t>Key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80000"/>
                </a:solidFill>
                <a:latin typeface="Roboto"/>
              </a:rPr>
              <a:t>ITC &amp; Bharti Airtel: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Roboto"/>
              </a:rPr>
              <a:t>Tight, symmetric return bands; limited extreme events.</a:t>
            </a:r>
          </a:p>
          <a:p>
            <a:pPr algn="l"/>
            <a:endParaRPr sz="900" b="0">
              <a:solidFill>
                <a:srgbClr val="1A1A1A"/>
              </a:solidFill>
              <a:latin typeface="Roboto"/>
            </a:endParaRPr>
          </a:p>
          <a:p>
            <a:pPr algn="l"/>
            <a:r>
              <a:rPr sz="900" b="1">
                <a:solidFill>
                  <a:srgbClr val="980000"/>
                </a:solidFill>
                <a:latin typeface="Roboto"/>
              </a:rPr>
              <a:t>Tata Motors: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Roboto"/>
              </a:rPr>
              <a:t>Notable spike in early 2020 (COVID crash). High-amplitude oscillations throughout.</a:t>
            </a:r>
          </a:p>
          <a:p>
            <a:pPr algn="l"/>
            <a:endParaRPr sz="900" b="0">
              <a:solidFill>
                <a:srgbClr val="1A1A1A"/>
              </a:solidFill>
              <a:latin typeface="Roboto"/>
            </a:endParaRPr>
          </a:p>
          <a:p>
            <a:pPr algn="l"/>
            <a:r>
              <a:rPr sz="900" b="1">
                <a:solidFill>
                  <a:srgbClr val="980000"/>
                </a:solidFill>
                <a:latin typeface="Roboto"/>
              </a:rPr>
              <a:t>DLF Limited: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Roboto"/>
              </a:rPr>
              <a:t>Cyclical return clusters; clear volatility regime shifts.</a:t>
            </a:r>
          </a:p>
          <a:p>
            <a:pPr algn="l"/>
            <a:endParaRPr sz="900" b="0">
              <a:solidFill>
                <a:srgbClr val="1A1A1A"/>
              </a:solidFill>
              <a:latin typeface="Roboto"/>
            </a:endParaRPr>
          </a:p>
          <a:p>
            <a:pPr algn="l"/>
            <a:r>
              <a:rPr sz="900" b="1">
                <a:solidFill>
                  <a:srgbClr val="980000"/>
                </a:solidFill>
                <a:latin typeface="Roboto"/>
              </a:rPr>
              <a:t>Yes Bank: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Roboto"/>
              </a:rPr>
              <a:t>Extreme spikes in both directions around 2020 crisis (range: -51% to +59% in a single week).</a:t>
            </a:r>
          </a:p>
          <a:p>
            <a:pPr algn="l"/>
            <a:endParaRPr sz="900" b="0">
              <a:solidFill>
                <a:srgbClr val="1A1A1A"/>
              </a:solidFill>
              <a:latin typeface="Roboto"/>
            </a:endParaRPr>
          </a:p>
          <a:p>
            <a:pPr algn="l"/>
            <a:r>
              <a:rPr sz="900" b="1">
                <a:solidFill>
                  <a:srgbClr val="666666"/>
                </a:solidFill>
                <a:latin typeface="Roboto"/>
              </a:rPr>
              <a:t>General: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Roboto"/>
              </a:rPr>
              <a:t>Volatility clustering visible across all stocks — periods of calm followed by turbulence.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95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980000"/>
                </a:solidFill>
                <a:latin typeface="Roboto"/>
              </a:rPr>
              <a:t>Mean &amp; Standard Deviation of Weekly Returns — All Stocks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8595360" cy="1828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" y="868680"/>
            <a:ext cx="1737360" cy="38404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" y="923544"/>
            <a:ext cx="16642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Roboto"/>
              </a:rPr>
              <a:t>Stock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868680"/>
            <a:ext cx="1280160" cy="38404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65376" y="923544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Roboto"/>
              </a:rPr>
              <a:t>Mean Return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868680"/>
            <a:ext cx="1143000" cy="38404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45536" y="923544"/>
            <a:ext cx="1069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Roboto"/>
              </a:rPr>
              <a:t>Std Dev 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868680"/>
            <a:ext cx="1280160" cy="38404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88536" y="923544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Roboto"/>
              </a:rPr>
              <a:t>Min Return 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868680"/>
            <a:ext cx="1280160" cy="38404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68696" y="923544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Roboto"/>
              </a:rPr>
              <a:t>Max Return 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868680"/>
            <a:ext cx="1417320" cy="38404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48856" y="923544"/>
            <a:ext cx="1344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Roboto"/>
              </a:rPr>
              <a:t>Sharpe-like Ratio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" y="1252728"/>
            <a:ext cx="17373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" y="1325880"/>
            <a:ext cx="16642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1A1A1A"/>
                </a:solidFill>
                <a:latin typeface="Roboto"/>
              </a:rPr>
              <a:t>ITC Limited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252728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65376" y="1325880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E7D32"/>
                </a:solidFill>
                <a:latin typeface="Roboto"/>
              </a:rPr>
              <a:t>+0.2281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1252728"/>
            <a:ext cx="114300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45536" y="1325880"/>
            <a:ext cx="1069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1A"/>
                </a:solidFill>
                <a:latin typeface="Roboto"/>
              </a:rPr>
              <a:t>3.6127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1252728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88536" y="1325880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1A"/>
                </a:solidFill>
                <a:latin typeface="Roboto"/>
              </a:rPr>
              <a:t>-13.43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120" y="1252728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68696" y="1325880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1A"/>
                </a:solidFill>
                <a:latin typeface="Roboto"/>
              </a:rPr>
              <a:t>+16.67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1252728"/>
            <a:ext cx="14173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48856" y="1325880"/>
            <a:ext cx="1344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E65C00"/>
                </a:solidFill>
                <a:latin typeface="Roboto"/>
              </a:rPr>
              <a:t>0.0631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" y="1636776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" y="1709928"/>
            <a:ext cx="16642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1A1A1A"/>
                </a:solidFill>
                <a:latin typeface="Roboto"/>
              </a:rPr>
              <a:t>Bharti Airtel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636776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65376" y="1709928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E7D32"/>
                </a:solidFill>
                <a:latin typeface="Roboto"/>
              </a:rPr>
              <a:t>+0.4029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1636776"/>
            <a:ext cx="1143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45536" y="1709928"/>
            <a:ext cx="1069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1A"/>
                </a:solidFill>
                <a:latin typeface="Roboto"/>
              </a:rPr>
              <a:t>3.9073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60" y="1636776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88536" y="1709928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1A"/>
                </a:solidFill>
                <a:latin typeface="Roboto"/>
              </a:rPr>
              <a:t>-12.09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1636776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68696" y="1709928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1A"/>
                </a:solidFill>
                <a:latin typeface="Roboto"/>
              </a:rPr>
              <a:t>+15.87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1636776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48856" y="1709928"/>
            <a:ext cx="1344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E7D32"/>
                </a:solidFill>
                <a:latin typeface="Roboto"/>
              </a:rPr>
              <a:t>0.1031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" y="2020824"/>
            <a:ext cx="17373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8016" y="2093976"/>
            <a:ext cx="16642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1A1A1A"/>
                </a:solidFill>
                <a:latin typeface="Roboto"/>
              </a:rPr>
              <a:t>Tata Motors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020824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865376" y="2093976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E7D32"/>
                </a:solidFill>
                <a:latin typeface="Roboto"/>
              </a:rPr>
              <a:t>+0.4088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08960" y="2020824"/>
            <a:ext cx="114300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145536" y="2093976"/>
            <a:ext cx="1069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1A"/>
                </a:solidFill>
                <a:latin typeface="Roboto"/>
              </a:rPr>
              <a:t>6.1976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2020824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88536" y="2093976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1A"/>
                </a:solidFill>
                <a:latin typeface="Roboto"/>
              </a:rPr>
              <a:t>-21.10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2120" y="2020824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68696" y="2093976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1A"/>
                </a:solidFill>
                <a:latin typeface="Roboto"/>
              </a:rPr>
              <a:t>+35.43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12280" y="2020824"/>
            <a:ext cx="14173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48856" y="2093976"/>
            <a:ext cx="1344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E65C00"/>
                </a:solidFill>
                <a:latin typeface="Roboto"/>
              </a:rPr>
              <a:t>0.0660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" y="2404872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28016" y="2478024"/>
            <a:ext cx="16642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1A1A1A"/>
                </a:solidFill>
                <a:latin typeface="Roboto"/>
              </a:rPr>
              <a:t>DLF Limited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2404872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865376" y="2478024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E7D32"/>
                </a:solidFill>
                <a:latin typeface="Roboto"/>
              </a:rPr>
              <a:t>+0.6540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08960" y="2404872"/>
            <a:ext cx="1143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145536" y="2478024"/>
            <a:ext cx="1069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1A"/>
                </a:solidFill>
                <a:latin typeface="Roboto"/>
              </a:rPr>
              <a:t>5.7796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51960" y="2404872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88536" y="2478024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1A"/>
                </a:solidFill>
                <a:latin typeface="Roboto"/>
              </a:rPr>
              <a:t>-20.50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32120" y="2404872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568696" y="2478024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1A"/>
                </a:solidFill>
                <a:latin typeface="Roboto"/>
              </a:rPr>
              <a:t>+25.84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12280" y="2404872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848856" y="2478024"/>
            <a:ext cx="1344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2E7D32"/>
                </a:solidFill>
                <a:latin typeface="Roboto"/>
              </a:rPr>
              <a:t>0.1132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2788920"/>
            <a:ext cx="17373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28016" y="2862072"/>
            <a:ext cx="16642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1A1A1A"/>
                </a:solidFill>
                <a:latin typeface="Roboto"/>
              </a:rPr>
              <a:t>Yes Bank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2788920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65376" y="2862072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C62828"/>
                </a:solidFill>
                <a:latin typeface="Roboto"/>
              </a:rPr>
              <a:t>-0.0475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08960" y="2788920"/>
            <a:ext cx="114300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145536" y="2862072"/>
            <a:ext cx="1069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1A"/>
                </a:solidFill>
                <a:latin typeface="Roboto"/>
              </a:rPr>
              <a:t>9.1095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51960" y="2788920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288536" y="2862072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1A"/>
                </a:solidFill>
                <a:latin typeface="Roboto"/>
              </a:rPr>
              <a:t>-51.43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32120" y="2788920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68696" y="2862072"/>
            <a:ext cx="120700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1A1A1A"/>
                </a:solidFill>
                <a:latin typeface="Roboto"/>
              </a:rPr>
              <a:t>+58.82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12280" y="2788920"/>
            <a:ext cx="14173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848856" y="2862072"/>
            <a:ext cx="134416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C62828"/>
                </a:solidFill>
                <a:latin typeface="Roboto"/>
              </a:rPr>
              <a:t>-0.0052</a:t>
            </a:r>
          </a:p>
        </p:txBody>
      </p:sp>
      <p:pic>
        <p:nvPicPr>
          <p:cNvPr id="78" name="Picture 77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907792"/>
            <a:ext cx="8961120" cy="196596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91440" y="4846320"/>
            <a:ext cx="89611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66666"/>
                </a:solidFill>
                <a:latin typeface="Roboto"/>
              </a:rPr>
              <a:t>Sharpe-like Ratio = Mean Return / Std Dev. Highest (best): DLF (0.1132), Bharti Airtel (0.1031). Lowest (worst): Yes Bank (-0.0052).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95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980000"/>
                </a:solidFill>
                <a:latin typeface="Roboto"/>
              </a:rPr>
              <a:t>Risk-Return Profile — Mean vs Standard Deviation Scatter Plot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8595360" cy="1828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04672"/>
            <a:ext cx="612648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55080" y="804672"/>
            <a:ext cx="2651760" cy="4023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850392"/>
            <a:ext cx="2468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80000"/>
                </a:solidFill>
                <a:latin typeface="Roboto"/>
              </a:rPr>
              <a:t>Quadrant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4864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1170432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2E7D32"/>
                </a:solidFill>
                <a:latin typeface="Roboto"/>
              </a:rPr>
              <a:t>BEST RISK-ADJUSTED: Bharti Airtel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3716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A1A1A"/>
                </a:solidFill>
                <a:latin typeface="Roboto"/>
              </a:rPr>
              <a:t>Mean: +0.40% | Std: 3.91%
Moderate risk, solid return. Core holding candidate.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856232"/>
            <a:ext cx="54864" cy="5029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1856232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E65C00"/>
                </a:solidFill>
                <a:latin typeface="Roboto"/>
              </a:rPr>
              <a:t>HIGHEST RETURN: DLF 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0574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A1A1A"/>
                </a:solidFill>
                <a:latin typeface="Roboto"/>
              </a:rPr>
              <a:t>Mean: +0.65% | Std: 5.78%
Top performer but real estate cyclicality adds risk.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542032"/>
            <a:ext cx="54864" cy="502920"/>
          </a:xfrm>
          <a:prstGeom prst="rect">
            <a:avLst/>
          </a:prstGeom>
          <a:solidFill>
            <a:srgbClr val="00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5392" y="2542032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5CAD"/>
                </a:solidFill>
                <a:latin typeface="Roboto"/>
              </a:rPr>
              <a:t>DEFENSIVE: ITC Limited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7432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A1A1A"/>
                </a:solidFill>
                <a:latin typeface="Roboto"/>
              </a:rPr>
              <a:t>Mean: +0.23% | Std: 3.61%
Lowest risk. Capital preservation anchor.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3227832"/>
            <a:ext cx="54864" cy="5029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3227832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E65C00"/>
                </a:solidFill>
                <a:latin typeface="Roboto"/>
              </a:rPr>
              <a:t>CYCLICAL: Tata Motors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4290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A1A1A"/>
                </a:solidFill>
                <a:latin typeface="Roboto"/>
              </a:rPr>
              <a:t>Mean: +0.41% | Std: 6.20%
Similar return to Airtel at higher risk.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3913632"/>
            <a:ext cx="54864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3913632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62828"/>
                </a:solidFill>
                <a:latin typeface="Roboto"/>
              </a:rPr>
              <a:t>AVOID: Yes Bank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1148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A1A1A"/>
                </a:solidFill>
                <a:latin typeface="Roboto"/>
              </a:rPr>
              <a:t>Mean: -0.05% | Std: 9.11%
Negative return + highest risk = worst combination.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95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980000"/>
                </a:solidFill>
                <a:latin typeface="Roboto"/>
              </a:rPr>
              <a:t>Supporting Analysis — Correlation Matrix &amp; Rolling Volatility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8595360" cy="1828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ar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22960"/>
            <a:ext cx="4023360" cy="3474720"/>
          </a:xfrm>
          <a:prstGeom prst="rect">
            <a:avLst/>
          </a:prstGeom>
        </p:spPr>
      </p:pic>
      <p:pic>
        <p:nvPicPr>
          <p:cNvPr id="7" name="Picture 6" descr="chart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822960"/>
            <a:ext cx="484632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" y="434340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980000"/>
                </a:solidFill>
                <a:latin typeface="Roboto"/>
              </a:rPr>
              <a:t>Correlation Matrix — Weekly Returns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4617720"/>
            <a:ext cx="4023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A1A1A"/>
                </a:solidFill>
                <a:latin typeface="Roboto"/>
              </a:rPr>
              <a:t>Most pairs show moderate positive correlation (0.20-0.46), suggesting partial diversification benefit. Yes Bank shows near-zero or negative correlation with others, providing diversification value — though its negative return profile negates this benefit.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24612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980000"/>
                </a:solidFill>
                <a:latin typeface="Roboto"/>
              </a:rPr>
              <a:t>Rolling 52-Week Annualised Volatility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520440"/>
            <a:ext cx="4846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A1A1A"/>
                </a:solidFill>
                <a:latin typeface="Roboto"/>
              </a:rPr>
              <a:t>Yes Bank volatility spiked dramatically in 2020. COVID crash (March 2020) elevated all stocks simultaneously. Post-2021, most stocks returned to lower volatility regimes — indicating improving market conditions.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Roboto"/>
              </a:rPr>
              <a:t>Actionable Insights &amp;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AAAAAA"/>
                </a:solidFill>
                <a:latin typeface="Roboto"/>
              </a:rPr>
              <a:t>Section 3 of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CCCCC"/>
                </a:solidFill>
                <a:latin typeface="Roboto"/>
              </a:rPr>
              <a:t>Portfolio allocation guidance, risk-parity principles, and strategic recommendations
for fund managers and investors based on the risk-return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95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980000"/>
                </a:solidFill>
                <a:latin typeface="Roboto"/>
              </a:rPr>
              <a:t>Portfolio Assessment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8595360" cy="1828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" y="868680"/>
            <a:ext cx="109728" cy="7132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905256"/>
            <a:ext cx="16916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2E7D32"/>
                </a:solidFill>
                <a:latin typeface="Roboto"/>
              </a:rPr>
              <a:t>Bharti Airtel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161288"/>
            <a:ext cx="1691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A1A1A"/>
                </a:solidFill>
                <a:latin typeface="Roboto"/>
              </a:rPr>
              <a:t>CORE HOLDING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344168"/>
            <a:ext cx="1691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666666"/>
                </a:solidFill>
                <a:latin typeface="Roboto"/>
              </a:rPr>
              <a:t>Mean: +0.40% | Std: 3.91%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914400"/>
            <a:ext cx="5303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Roboto"/>
              </a:rPr>
              <a:t>Best risk-adjusted return across the portfolio. Post-Jio disruption recovery is sustained. 5G rollout and ARPU growth support continued momentum. Broadest appeal for all investor types.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960120"/>
            <a:ext cx="164592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960120"/>
            <a:ext cx="1645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 i="0">
                <a:solidFill>
                  <a:srgbClr val="FFFFFF"/>
                </a:solidFill>
                <a:latin typeface="Roboto"/>
              </a:rPr>
              <a:t>Suggested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18872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Roboto"/>
              </a:rPr>
              <a:t>30–35%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1618488"/>
            <a:ext cx="109728" cy="713232"/>
          </a:xfrm>
          <a:prstGeom prst="rect">
            <a:avLst/>
          </a:prstGeom>
          <a:solidFill>
            <a:srgbClr val="00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" y="1655064"/>
            <a:ext cx="16916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5CAD"/>
                </a:solidFill>
                <a:latin typeface="Roboto"/>
              </a:rPr>
              <a:t>ITC Limited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1911096"/>
            <a:ext cx="1691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A1A1A"/>
                </a:solidFill>
                <a:latin typeface="Roboto"/>
              </a:rPr>
              <a:t>DEFENSIVE ANCHOR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2093976"/>
            <a:ext cx="1691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666666"/>
                </a:solidFill>
                <a:latin typeface="Roboto"/>
              </a:rPr>
              <a:t>Mean: +0.23% | Std: 3.61%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1664208"/>
            <a:ext cx="5303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Roboto"/>
              </a:rPr>
              <a:t>Lowest volatility in the group with positive mean return. Demonstrated resilience during COVID. Diversified conglomerate business (FMCG, Hotels, Agribusiness) provides natural internal diversification.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709928"/>
            <a:ext cx="1645920" cy="548640"/>
          </a:xfrm>
          <a:prstGeom prst="rect">
            <a:avLst/>
          </a:prstGeom>
          <a:solidFill>
            <a:srgbClr val="00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0" y="1709928"/>
            <a:ext cx="1645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 i="0">
                <a:solidFill>
                  <a:srgbClr val="FFFFFF"/>
                </a:solidFill>
                <a:latin typeface="Roboto"/>
              </a:rPr>
              <a:t>Suggested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93852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Roboto"/>
              </a:rPr>
              <a:t>25–30%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" y="2368296"/>
            <a:ext cx="109728" cy="7132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" y="2404872"/>
            <a:ext cx="16916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E65C00"/>
                </a:solidFill>
                <a:latin typeface="Roboto"/>
              </a:rPr>
              <a:t>DLF Limited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2660904"/>
            <a:ext cx="1691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A1A1A"/>
                </a:solidFill>
                <a:latin typeface="Roboto"/>
              </a:rPr>
              <a:t>TACTICAL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2843784"/>
            <a:ext cx="1691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666666"/>
                </a:solidFill>
                <a:latin typeface="Roboto"/>
              </a:rPr>
              <a:t>Mean: +0.65% | Std: 5.78%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2414016"/>
            <a:ext cx="5303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Roboto"/>
              </a:rPr>
              <a:t>Highest mean weekly return driven by real estate recovery cycle. Cyclical sector — performance is sensitive to interest rates and housing demand. Late-cycle momentum may continue but reversal risk exists.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459736"/>
            <a:ext cx="1645920" cy="54864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0" y="2459736"/>
            <a:ext cx="1645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 i="0">
                <a:solidFill>
                  <a:srgbClr val="FFFFFF"/>
                </a:solidFill>
                <a:latin typeface="Roboto"/>
              </a:rPr>
              <a:t>Suggested Allocation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688336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Roboto"/>
              </a:rPr>
              <a:t>15–20%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" y="3118104"/>
            <a:ext cx="109728" cy="713232"/>
          </a:xfrm>
          <a:prstGeom prst="rect">
            <a:avLst/>
          </a:prstGeom>
          <a:solidFill>
            <a:srgbClr val="78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6032" y="3154680"/>
            <a:ext cx="16916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785500"/>
                </a:solidFill>
                <a:latin typeface="Roboto"/>
              </a:rPr>
              <a:t>Tata Motors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" y="3410712"/>
            <a:ext cx="1691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A1A1A"/>
                </a:solidFill>
                <a:latin typeface="Roboto"/>
              </a:rPr>
              <a:t>SELECTIVE EXPOSURE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" y="3593592"/>
            <a:ext cx="1691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666666"/>
                </a:solidFill>
                <a:latin typeface="Roboto"/>
              </a:rPr>
              <a:t>Mean: +0.41% | Std: 6.20%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3163824"/>
            <a:ext cx="5303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Roboto"/>
              </a:rPr>
              <a:t>Similar return to Airtel but at higher risk (6.20% vs 3.91% std dev). JLR exposure adds FX and global demand risk. EV transition provides growth optionality. Size the position smaller relative to its risk.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209544"/>
            <a:ext cx="1645920" cy="548640"/>
          </a:xfrm>
          <a:prstGeom prst="rect">
            <a:avLst/>
          </a:prstGeom>
          <a:solidFill>
            <a:srgbClr val="78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06640" y="3209544"/>
            <a:ext cx="1645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 i="0">
                <a:solidFill>
                  <a:srgbClr val="FFFFFF"/>
                </a:solidFill>
                <a:latin typeface="Roboto"/>
              </a:rPr>
              <a:t>Suggested Allocation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438144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Roboto"/>
              </a:rPr>
              <a:t>10–15%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3867912"/>
            <a:ext cx="109728" cy="71323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6032" y="3904488"/>
            <a:ext cx="16916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C62828"/>
                </a:solidFill>
                <a:latin typeface="Roboto"/>
              </a:rPr>
              <a:t>Yes Bank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" y="4160520"/>
            <a:ext cx="1691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A1A1A"/>
                </a:solidFill>
                <a:latin typeface="Roboto"/>
              </a:rPr>
              <a:t>AVOID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" y="4343400"/>
            <a:ext cx="1691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666666"/>
                </a:solidFill>
                <a:latin typeface="Roboto"/>
              </a:rPr>
              <a:t>Mean: -0.05% | Std: 9.11%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3913632"/>
            <a:ext cx="5303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1A1A1A"/>
                </a:solidFill>
                <a:latin typeface="Roboto"/>
              </a:rPr>
              <a:t>Negative mean return combined with the highest risk in the group. Shareholder value permanently impaired post-2020 crisis. Not suitable for a risk-managed portfolio. Any exposure should be under 5% and purely speculative.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3959352"/>
            <a:ext cx="1645920" cy="5486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06640" y="3959352"/>
            <a:ext cx="1645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 i="0">
                <a:solidFill>
                  <a:srgbClr val="FFFFFF"/>
                </a:solidFill>
                <a:latin typeface="Roboto"/>
              </a:rPr>
              <a:t>Suggested Allocation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4187952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Roboto"/>
              </a:rPr>
              <a:t>&lt; 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95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980000"/>
                </a:solidFill>
                <a:latin typeface="Roboto"/>
              </a:rPr>
              <a:t>Actionable Insights &amp; General Portfolio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8595360" cy="18288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" y="960120"/>
            <a:ext cx="429768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" y="960120"/>
            <a:ext cx="411480" cy="41148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" y="996696"/>
            <a:ext cx="34747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014984"/>
            <a:ext cx="3703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80000"/>
                </a:solidFill>
                <a:latin typeface="Roboto"/>
              </a:rPr>
              <a:t>Risk-Parity Sizing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344168"/>
            <a:ext cx="4069080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Allocate inversely proportional to each stock's standard deviation. Lower-risk stocks (ITC, Airtel) receive larger weights. This approach equalises the risk contribution of each position rather than simply distributing capital equally.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960120"/>
            <a:ext cx="429768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0" y="960120"/>
            <a:ext cx="411480" cy="41148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996696"/>
            <a:ext cx="34747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014984"/>
            <a:ext cx="3703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80000"/>
                </a:solidFill>
                <a:latin typeface="Roboto"/>
              </a:rPr>
              <a:t>Avoid Yes Bank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344168"/>
            <a:ext cx="4069080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Yes Bank is the only stock with a negative mean return (-0.05%/week) combined with the highest risk (std dev 9.11%). The governance crisis of 2020 is a permanent structural event. No recovery to pre-crisis price levels has occurred over four years. Exclude from institutional portfolios.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" y="3017520"/>
            <a:ext cx="429768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728" y="3017520"/>
            <a:ext cx="411480" cy="41148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5448" y="3054096"/>
            <a:ext cx="34747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072384"/>
            <a:ext cx="3703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80000"/>
                </a:solidFill>
                <a:latin typeface="Roboto"/>
              </a:rPr>
              <a:t>Sector Diversification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" y="3401568"/>
            <a:ext cx="4069080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The five stocks span FMCG, Telecom, Automotive, Real Estate, and Banking. This sector spread reduces concentration risk. Correlations between most pairs range from 0.20 to 0.46 — meaningful but not extreme co-movement, providing partial diversification.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017520"/>
            <a:ext cx="429768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3017520"/>
            <a:ext cx="411480" cy="41148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3054096"/>
            <a:ext cx="34747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072384"/>
            <a:ext cx="3703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980000"/>
                </a:solidFill>
                <a:latin typeface="Roboto"/>
              </a:rPr>
              <a:t>Annual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3401568"/>
            <a:ext cx="4069080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A1A"/>
                </a:solidFill>
                <a:latin typeface="Roboto"/>
              </a:rPr>
              <a:t>Sectoral dynamics evolve. Real estate (DLF) and automotive (Tata Motors) returns are highly sensitive to interest rate cycles. Review allocations annually and trim positions that have drifted beyond risk tolerance.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200" b="1" i="0">
                <a:solidFill>
                  <a:srgbClr val="FFFFFF"/>
                </a:solidFill>
                <a:latin typeface="Roboto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 dirty="0">
                <a:solidFill>
                  <a:srgbClr val="FFCCCC"/>
                </a:solidFill>
                <a:latin typeface="Roboto"/>
              </a:rPr>
              <a:t>Stock Market </a:t>
            </a:r>
            <a:r>
              <a:rPr sz="1600" b="0" i="0">
                <a:solidFill>
                  <a:srgbClr val="FFCCCC"/>
                </a:solidFill>
                <a:latin typeface="Roboto"/>
              </a:rPr>
              <a:t>Risk Analysis</a:t>
            </a:r>
            <a:endParaRPr sz="1600" b="0" i="0" dirty="0">
              <a:solidFill>
                <a:srgbClr val="FFCCCC"/>
              </a:solidFill>
              <a:latin typeface="Robot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0" y="2834640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 dirty="0">
                <a:solidFill>
                  <a:srgbClr val="FFFFFF"/>
                </a:solidFill>
                <a:latin typeface="Roboto"/>
              </a:rPr>
              <a:t> Data Science &amp;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FFCCCC"/>
                </a:solidFill>
                <a:latin typeface="Roboto"/>
              </a:rPr>
              <a:t>Dataset: Market_Risk_Data_coded.csv | Analysis Period: March 2016 – March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1538</Words>
  <Application>Microsoft Office PowerPoint</Application>
  <PresentationFormat>On-screen Show (16:9)</PresentationFormat>
  <Paragraphs>233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Morris Maina</cp:lastModifiedBy>
  <cp:revision>2</cp:revision>
  <dcterms:created xsi:type="dcterms:W3CDTF">2013-01-27T09:14:16Z</dcterms:created>
  <dcterms:modified xsi:type="dcterms:W3CDTF">2026-04-15T19:55:16Z</dcterms:modified>
  <cp:category/>
</cp:coreProperties>
</file>